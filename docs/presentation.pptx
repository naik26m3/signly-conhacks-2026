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00B4D8"/>
                </a:solidFill>
              </a:rPr>
              <a:t>signly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9184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Real-Time Sign Language Translation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154680"/>
            <a:ext cx="3657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389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C4D8"/>
                </a:solidFill>
              </a:rPr>
              <a:t>Bridging the communication gap — everywhere, for everyone.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943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4D8"/>
                </a:solidFill>
              </a:rPr>
              <a:t>ConHacks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B4D8"/>
                </a:solidFill>
              </a:rPr>
              <a:t>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24128"/>
            <a:ext cx="10515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AF0F8"/>
                </a:solidFill>
              </a:rPr>
              <a:t>The Gap in the Market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500" b="0">
                <a:solidFill>
                  <a:srgbClr val="FFFFFF"/>
                </a:solidFill>
              </a:rPr>
              <a:t>~72 million deaf people worldwide (WHO, 2023)</a:t>
            </a:r>
          </a:p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500" b="0">
                <a:solidFill>
                  <a:srgbClr val="FFFFFF"/>
                </a:solidFill>
              </a:rPr>
              <a:t>300+ sign languages in use globally</a:t>
            </a:r>
          </a:p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500" b="0">
                <a:solidFill>
                  <a:srgbClr val="FFFFFF"/>
                </a:solidFill>
              </a:rPr>
              <a:t>Existing translation apps target enterprise B2B only</a:t>
            </a:r>
          </a:p>
          <a:p>
            <a:pPr>
              <a:spcBef>
                <a:spcPts val="400"/>
              </a:spcBef>
              <a:buChar char="◦"/>
              <a:buFont typeface="Arial"/>
              <a:indent val="-228600"/>
              <a:marL val="457200"/>
            </a:pPr>
            <a:r>
              <a:rPr sz="1300" b="0">
                <a:solidFill>
                  <a:srgbClr val="B0C4D8"/>
                </a:solidFill>
              </a:rPr>
              <a:t>→ Customer service desks</a:t>
            </a:r>
          </a:p>
          <a:p>
            <a:pPr>
              <a:spcBef>
                <a:spcPts val="400"/>
              </a:spcBef>
              <a:buChar char="◦"/>
              <a:buFont typeface="Arial"/>
              <a:indent val="-228600"/>
              <a:marL val="457200"/>
            </a:pPr>
            <a:r>
              <a:rPr sz="1300" b="0">
                <a:solidFill>
                  <a:srgbClr val="B0C4D8"/>
                </a:solidFill>
              </a:rPr>
              <a:t>→ Executive meeting accessibility</a:t>
            </a:r>
          </a:p>
          <a:p>
            <a:pPr>
              <a:spcBef>
                <a:spcPts val="400"/>
              </a:spcBef>
              <a:buChar char="◦"/>
              <a:buFont typeface="Arial"/>
              <a:indent val="-228600"/>
              <a:marL val="457200"/>
            </a:pPr>
            <a:r>
              <a:rPr sz="1300" b="0">
                <a:solidFill>
                  <a:srgbClr val="B0C4D8"/>
                </a:solidFill>
              </a:rPr>
              <a:t>→ Priced at $50–$200/seat/month</a:t>
            </a:r>
          </a:p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500" b="0">
                <a:solidFill>
                  <a:srgbClr val="FFFFFF"/>
                </a:solidFill>
              </a:rPr>
              <a:t>No accessible, affordable B2C solution exists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AF0F8"/>
                </a:solidFill>
              </a:rPr>
              <a:t>Market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6916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500" b="0">
                <a:solidFill>
                  <a:srgbClr val="FFFFFF"/>
                </a:solidFill>
              </a:rPr>
              <a:t>Global ASL/sign language app market: $2.7B (2024)</a:t>
            </a:r>
          </a:p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500" b="0">
                <a:solidFill>
                  <a:srgbClr val="FFFFFF"/>
                </a:solidFill>
              </a:rPr>
              <a:t>Expected CAGR: 18.4% through 2030</a:t>
            </a:r>
          </a:p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500" b="0">
                <a:solidFill>
                  <a:srgbClr val="FFFFFF"/>
                </a:solidFill>
              </a:rPr>
              <a:t>US alone: 11,000+ deaf students enter college each year</a:t>
            </a:r>
          </a:p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500" b="0">
                <a:solidFill>
                  <a:srgbClr val="FFFFFF"/>
                </a:solidFill>
              </a:rPr>
              <a:t>500M+ people affected by disabling hearing loss (WHO)</a:t>
            </a:r>
          </a:p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500" b="0">
                <a:solidFill>
                  <a:srgbClr val="FFFFFF"/>
                </a:solidFill>
              </a:rPr>
              <a:t>Smartphone penetration: 6.8B users — delivery channel ready</a:t>
            </a:r>
          </a:p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500" b="0">
                <a:solidFill>
                  <a:srgbClr val="FFFFFF"/>
                </a:solidFill>
              </a:rPr>
              <a:t>Only 2% of enterprises provide sign language support</a:t>
            </a:r>
          </a:p>
          <a:p>
            <a:pPr>
              <a:spcBef>
                <a:spcPts val="400"/>
              </a:spcBef>
              <a:buChar char="◦"/>
              <a:buFont typeface="Arial"/>
              <a:indent val="-228600"/>
              <a:marL val="457200"/>
            </a:pPr>
            <a:r>
              <a:rPr sz="1300" b="0">
                <a:solidFill>
                  <a:srgbClr val="B0C4D8"/>
                </a:solidFill>
              </a:rPr>
              <a:t>→ Massive underserved consumer segment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B4D8"/>
                </a:solidFill>
              </a:rPr>
              <a:t>Our 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24128"/>
            <a:ext cx="10515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4300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CAF0F8"/>
                </a:solidFill>
              </a:rPr>
              <a:t>Signly — the first real-time, consumer-grade sign language translator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700" b="0">
                <a:solidFill>
                  <a:srgbClr val="FFFFFF"/>
                </a:solidFill>
              </a:rPr>
              <a:t>Point your phone camera at anyone signing — get instant English translation</a:t>
            </a:r>
          </a:p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700" b="0">
                <a:solidFill>
                  <a:srgbClr val="FFFFFF"/>
                </a:solidFill>
              </a:rPr>
              <a:t>Powered by on-device ML for low-latency, offline-capable recognition</a:t>
            </a:r>
          </a:p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700" b="0">
                <a:solidFill>
                  <a:srgbClr val="FFFFFF"/>
                </a:solidFill>
              </a:rPr>
              <a:t>Supports American Sign Language (ASL) at launch; multilingual roadmap</a:t>
            </a:r>
          </a:p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700" b="0">
                <a:solidFill>
                  <a:srgbClr val="FFFFFF"/>
                </a:solidFill>
              </a:rPr>
              <a:t>Two-way: converts spoken/typed English to animated sign output</a:t>
            </a:r>
          </a:p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700" b="0">
                <a:solidFill>
                  <a:srgbClr val="FFFFFF"/>
                </a:solidFill>
              </a:rPr>
              <a:t>Accessible UI designed with the deaf community from day one</a:t>
            </a:r>
          </a:p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700" b="0">
                <a:solidFill>
                  <a:srgbClr val="FFFFFF"/>
                </a:solidFill>
              </a:rPr>
              <a:t>Free tier available — no enterprise subscription required</a:t>
            </a:r>
          </a:p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700" b="0">
                <a:solidFill>
                  <a:srgbClr val="FFFFFF"/>
                </a:solidFill>
              </a:rPr>
              <a:t>Works on iOS &amp; Android with no special 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B4D8"/>
                </a:solidFill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24128"/>
            <a:ext cx="10515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20" y="1371600"/>
            <a:ext cx="914400" cy="9144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0D1B2A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46888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Capture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01752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Phone camera detects hand gestures &amp; facial expressions in real time</a:t>
            </a:r>
          </a:p>
        </p:txBody>
      </p:sp>
      <p:sp>
        <p:nvSpPr>
          <p:cNvPr id="8" name="Oval 7"/>
          <p:cNvSpPr/>
          <p:nvPr/>
        </p:nvSpPr>
        <p:spPr>
          <a:xfrm>
            <a:off x="4572000" y="1371600"/>
            <a:ext cx="914400" cy="9144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0D1B2A"/>
                </a:solidFill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246888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Recognize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301752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On-device CV model (MediaPipe + custom LSTM) classifies signs</a:t>
            </a:r>
          </a:p>
        </p:txBody>
      </p:sp>
      <p:sp>
        <p:nvSpPr>
          <p:cNvPr id="11" name="Oval 10"/>
          <p:cNvSpPr/>
          <p:nvPr/>
        </p:nvSpPr>
        <p:spPr>
          <a:xfrm>
            <a:off x="7955279" y="1371600"/>
            <a:ext cx="914400" cy="91440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600" b="1">
                <a:solidFill>
                  <a:srgbClr val="0D1B2A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59" y="246888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B4D8"/>
                </a:solidFill>
              </a:rPr>
              <a:t>Translate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09559" y="301752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Sequences mapped to English text, displayed as overlay + read aloud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663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AF0F8"/>
                </a:solidFill>
              </a:rPr>
              <a:t>Tech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074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400" b="0">
                <a:solidFill>
                  <a:srgbClr val="FFFFFF"/>
                </a:solidFill>
              </a:rPr>
              <a:t>FastAPI backend  •  React Native (Expo) frontend  •  MediaPipe Hands  •  Custom LSTM / Transformer model  •  WebSocket streaming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B4D8"/>
                </a:solidFill>
              </a:rPr>
              <a:t>Market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24128"/>
            <a:ext cx="10515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B4D8"/>
                </a:solidFill>
              </a:rPr>
              <a:t>500M+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103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8"/>
                </a:solidFill>
              </a:rPr>
              <a:t>People with
disabling hearing loss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3716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B4D8"/>
                </a:solidFill>
              </a:rPr>
              <a:t>$2.7B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103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8"/>
                </a:solidFill>
              </a:rPr>
              <a:t>Global SL app
market (2024)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3716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B4D8"/>
                </a:solidFill>
              </a:rPr>
              <a:t>18.4%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03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8"/>
                </a:solidFill>
              </a:rPr>
              <a:t>CAGR projected
to 2030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37160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B4D8"/>
                </a:solidFill>
              </a:rPr>
              <a:t>6.8B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1031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8"/>
                </a:solidFill>
              </a:rPr>
              <a:t>Smartphone users
(delivery channel)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880360"/>
            <a:ext cx="10058400" cy="25400"/>
          </a:xfrm>
          <a:prstGeom prst="rect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2971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AF0F8"/>
                </a:solidFill>
              </a:rPr>
              <a:t>Total Addressable Market (TAM) → Serviceable (SAM) → Obtainable (SOM)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4747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600" b="0">
                <a:solidFill>
                  <a:srgbClr val="FFFFFF"/>
                </a:solidFill>
              </a:rPr>
              <a:t>TAM — All smartphone users with hearing loss globally: ~150M</a:t>
            </a:r>
          </a:p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600" b="0">
                <a:solidFill>
                  <a:srgbClr val="FFFFFF"/>
                </a:solidFill>
              </a:rPr>
              <a:t>SAM — English-speaking ASL users + hearing population needing translation: ~35M</a:t>
            </a:r>
          </a:p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600" b="0">
                <a:solidFill>
                  <a:srgbClr val="FFFFFF"/>
                </a:solidFill>
              </a:rPr>
              <a:t>SOM (Year 1 target) — Early adopters via app stores + community: ~250,000 users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B4D8"/>
                </a:solidFill>
              </a:rPr>
              <a:t>Who We Serve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24128"/>
            <a:ext cx="10515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Deaf &amp; Hard-of-Hearing Individuals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400" b="0">
                <a:solidFill>
                  <a:srgbClr val="FFFFFF"/>
                </a:solidFill>
              </a:rPr>
              <a:t>Communicate freely in everyday situations</a:t>
            </a:r>
          </a:p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400" b="0">
                <a:solidFill>
                  <a:srgbClr val="FFFFFF"/>
                </a:solidFill>
              </a:rPr>
              <a:t>No interpreter needed for casual conversations</a:t>
            </a:r>
          </a:p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400" b="0">
                <a:solidFill>
                  <a:srgbClr val="FFFFFF"/>
                </a:solidFill>
              </a:rPr>
              <a:t>Use in restaurants, stores, appointments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Hearing People &amp; Families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400" b="0">
                <a:solidFill>
                  <a:srgbClr val="FFFFFF"/>
                </a:solidFill>
              </a:rPr>
              <a:t>Learn ASL alongside a deaf family member</a:t>
            </a:r>
          </a:p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400" b="0">
                <a:solidFill>
                  <a:srgbClr val="FFFFFF"/>
                </a:solidFill>
              </a:rPr>
              <a:t>Bridge communication instantly before fluency</a:t>
            </a:r>
          </a:p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400" b="0">
                <a:solidFill>
                  <a:srgbClr val="FFFFFF"/>
                </a:solidFill>
              </a:rPr>
              <a:t>Used by 90% of deaf children born to hearing parents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Students &amp; Educators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1148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400" b="0">
                <a:solidFill>
                  <a:srgbClr val="FFFFFF"/>
                </a:solidFill>
              </a:rPr>
              <a:t>ASL learners get real-time feedback</a:t>
            </a:r>
          </a:p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400" b="0">
                <a:solidFill>
                  <a:srgbClr val="FFFFFF"/>
                </a:solidFill>
              </a:rPr>
              <a:t>Inclusive classrooms — live caption signing</a:t>
            </a:r>
          </a:p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400" b="0">
                <a:solidFill>
                  <a:srgbClr val="FFFFFF"/>
                </a:solidFill>
              </a:rPr>
              <a:t>Universities, K-12, online courses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Healthcare &amp; Public Services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1148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400" b="0">
                <a:solidFill>
                  <a:srgbClr val="FFFFFF"/>
                </a:solidFill>
              </a:rPr>
              <a:t>Doctors, EMTs, pharmacy staff</a:t>
            </a:r>
          </a:p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400" b="0">
                <a:solidFill>
                  <a:srgbClr val="FFFFFF"/>
                </a:solidFill>
              </a:rPr>
              <a:t>Faster, safer patient communication</a:t>
            </a:r>
          </a:p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400" b="0">
                <a:solidFill>
                  <a:srgbClr val="FFFFFF"/>
                </a:solidFill>
              </a:rPr>
              <a:t>No specialist interpreter on-call required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B4D8"/>
                </a:solidFill>
              </a:rPr>
              <a:t>Product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24128"/>
            <a:ext cx="10515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80160" y="1280160"/>
            <a:ext cx="2560320" cy="4114800"/>
          </a:xfrm>
          <a:prstGeom prst="roundRect">
            <a:avLst/>
          </a:prstGeom>
          <a:solidFill>
            <a:srgbClr val="1A2D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i="1">
                <a:solidFill>
                  <a:srgbClr val="B0C4D8"/>
                </a:solidFill>
              </a:rPr>
              <a:t>Live Camera
Overlay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280160"/>
            <a:ext cx="2560320" cy="4114800"/>
          </a:xfrm>
          <a:prstGeom prst="roundRect">
            <a:avLst/>
          </a:prstGeom>
          <a:solidFill>
            <a:srgbClr val="1A2D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i="1">
                <a:solidFill>
                  <a:srgbClr val="B0C4D8"/>
                </a:solidFill>
              </a:rPr>
              <a:t>Translation
Feed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280160"/>
            <a:ext cx="2560320" cy="4114800"/>
          </a:xfrm>
          <a:prstGeom prst="roundRect">
            <a:avLst/>
          </a:prstGeom>
          <a:solidFill>
            <a:srgbClr val="1A2D40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i="1">
                <a:solidFill>
                  <a:srgbClr val="B0C4D8"/>
                </a:solidFill>
              </a:rPr>
              <a:t>Two-Way
Chat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623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0C4D8"/>
                </a:solidFill>
              </a:rPr>
              <a:t>[ Insert app screenshots or Figma mockups here 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B4D8"/>
                </a:solidFill>
              </a:rPr>
              <a:t>Business Model &amp;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24128"/>
            <a:ext cx="10515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AF0F8"/>
                </a:solidFill>
              </a:rPr>
              <a:t>Revenue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500" b="0">
                <a:solidFill>
                  <a:srgbClr val="FFFFFF"/>
                </a:solidFill>
              </a:rPr>
              <a:t>Free tier — core translation, ad-supported</a:t>
            </a:r>
          </a:p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500" b="0">
                <a:solidFill>
                  <a:srgbClr val="FFFFFF"/>
                </a:solidFill>
              </a:rPr>
              <a:t>Signly Pro ($4.99/mo) — offline mode, history, custom vocab</a:t>
            </a:r>
          </a:p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500" b="0">
                <a:solidFill>
                  <a:srgbClr val="FFFFFF"/>
                </a:solidFill>
              </a:rPr>
              <a:t>Signly Family ($9.99/mo) — up to 5 profiles, learning tools</a:t>
            </a:r>
          </a:p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500" b="0">
                <a:solidFill>
                  <a:srgbClr val="FFFFFF"/>
                </a:solidFill>
              </a:rPr>
              <a:t>API licensing to healthcare / public-sector apps (B2B light)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AF0F8"/>
                </a:solidFill>
              </a:rPr>
              <a:t>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69164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500" b="0">
                <a:solidFill>
                  <a:srgbClr val="FFFFFF"/>
                </a:solidFill>
              </a:rPr>
              <a:t>Q2 2026 — MVP: ASL → English, iOS &amp; Android</a:t>
            </a:r>
          </a:p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500" b="0">
                <a:solidFill>
                  <a:srgbClr val="FFFFFF"/>
                </a:solidFill>
              </a:rPr>
              <a:t>Q3 2026 — Two-way translation, offline model</a:t>
            </a:r>
          </a:p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500" b="0">
                <a:solidFill>
                  <a:srgbClr val="FFFFFF"/>
                </a:solidFill>
              </a:rPr>
              <a:t>Q4 2026 — BSL, LSF language packs</a:t>
            </a:r>
          </a:p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500" b="0">
                <a:solidFill>
                  <a:srgbClr val="FFFFFF"/>
                </a:solidFill>
              </a:rPr>
              <a:t>Q1 2027 — Wearable integration (smart glasses)</a:t>
            </a:r>
          </a:p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500" b="0">
                <a:solidFill>
                  <a:srgbClr val="FFFFFF"/>
                </a:solidFill>
              </a:rPr>
              <a:t>2027+ — Real-time video call captioning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B4D8"/>
                </a:solidFill>
              </a:rPr>
              <a:t>The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24128"/>
            <a:ext cx="10515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2801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0C4D8"/>
                </a:solidFill>
              </a:rPr>
              <a:t>[ Add team member names, roles, and photos here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74519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500" b="0">
                <a:solidFill>
                  <a:srgbClr val="FFFFFF"/>
                </a:solidFill>
              </a:rPr>
              <a:t>What to include per member:</a:t>
            </a:r>
          </a:p>
          <a:p>
            <a:pPr>
              <a:spcBef>
                <a:spcPts val="400"/>
              </a:spcBef>
              <a:buChar char="◦"/>
              <a:buFont typeface="Arial"/>
              <a:indent val="-228600"/>
              <a:marL val="457200"/>
            </a:pPr>
            <a:r>
              <a:rPr sz="1300" b="0">
                <a:solidFill>
                  <a:srgbClr val="B0C4D8"/>
                </a:solidFill>
              </a:rPr>
              <a:t>Name &amp; role (e.g. ML Engineer, Full-Stack Dev, Product Designer)</a:t>
            </a:r>
          </a:p>
          <a:p>
            <a:pPr>
              <a:spcBef>
                <a:spcPts val="400"/>
              </a:spcBef>
              <a:buChar char="◦"/>
              <a:buFont typeface="Arial"/>
              <a:indent val="-228600"/>
              <a:marL val="457200"/>
            </a:pPr>
            <a:r>
              <a:rPr sz="1300" b="0">
                <a:solidFill>
                  <a:srgbClr val="B0C4D8"/>
                </a:solidFill>
              </a:rPr>
              <a:t>Key skill or past project relevant to Signly</a:t>
            </a:r>
          </a:p>
          <a:p>
            <a:pPr>
              <a:spcBef>
                <a:spcPts val="400"/>
              </a:spcBef>
              <a:buChar char="◦"/>
              <a:buFont typeface="Arial"/>
              <a:indent val="-228600"/>
              <a:marL val="457200"/>
            </a:pPr>
            <a:r>
              <a:rPr sz="1300" b="0">
                <a:solidFill>
                  <a:srgbClr val="B0C4D8"/>
                </a:solidFill>
              </a:rPr>
              <a:t>1-line fun fact or connection to the problem (optional)</a:t>
            </a:r>
          </a:p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500" b="0">
                <a:solidFill>
                  <a:srgbClr val="FFFFFF"/>
                </a:solidFill>
              </a:rPr>
              <a:t/>
            </a:r>
          </a:p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500" b="0">
                <a:solidFill>
                  <a:srgbClr val="FFFFFF"/>
                </a:solidFill>
              </a:rPr>
              <a:t>Why this team can execute:</a:t>
            </a:r>
          </a:p>
          <a:p>
            <a:pPr>
              <a:spcBef>
                <a:spcPts val="400"/>
              </a:spcBef>
              <a:buChar char="◦"/>
              <a:buFont typeface="Arial"/>
              <a:indent val="-228600"/>
              <a:marL val="457200"/>
            </a:pPr>
            <a:r>
              <a:rPr sz="1300" b="0">
                <a:solidFill>
                  <a:srgbClr val="B0C4D8"/>
                </a:solidFill>
              </a:rPr>
              <a:t>Combination of ML, mobile, and backend expertise</a:t>
            </a:r>
          </a:p>
          <a:p>
            <a:pPr>
              <a:spcBef>
                <a:spcPts val="400"/>
              </a:spcBef>
              <a:buChar char="◦"/>
              <a:buFont typeface="Arial"/>
              <a:indent val="-228600"/>
              <a:marL val="457200"/>
            </a:pPr>
            <a:r>
              <a:rPr sz="1300" b="0">
                <a:solidFill>
                  <a:srgbClr val="B0C4D8"/>
                </a:solidFill>
              </a:rPr>
              <a:t>Shared passion for accessibility and inclusive technology</a:t>
            </a:r>
          </a:p>
          <a:p>
            <a:pPr>
              <a:spcBef>
                <a:spcPts val="400"/>
              </a:spcBef>
              <a:buChar char="◦"/>
              <a:buFont typeface="Arial"/>
              <a:indent val="-228600"/>
              <a:marL val="457200"/>
            </a:pPr>
            <a:r>
              <a:rPr sz="1300" b="0">
                <a:solidFill>
                  <a:srgbClr val="B0C4D8"/>
                </a:solidFill>
              </a:rPr>
              <a:t>Built working prototype in 48 hours at ConHacks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32004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B4D8"/>
                </a:solidFill>
              </a:rPr>
              <a:t>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024128"/>
            <a:ext cx="10515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10058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800" b="0">
                <a:solidFill>
                  <a:srgbClr val="FFFFFF"/>
                </a:solidFill>
              </a:rPr>
              <a:t>Looking for feedback from deaf community organizations</a:t>
            </a:r>
          </a:p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800" b="0">
                <a:solidFill>
                  <a:srgbClr val="FFFFFF"/>
                </a:solidFill>
              </a:rPr>
              <a:t>Seeking pilot partnerships with universities &amp; healthcare providers</a:t>
            </a:r>
          </a:p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800" b="0">
                <a:solidFill>
                  <a:srgbClr val="FFFFFF"/>
                </a:solidFill>
              </a:rPr>
              <a:t>Open to advisors with ML, accessibility, or consumer app experience</a:t>
            </a:r>
          </a:p>
          <a:p>
            <a:pPr>
              <a:spcBef>
                <a:spcPts val="400"/>
              </a:spcBef>
              <a:buChar char="•"/>
              <a:buFont typeface="Arial"/>
              <a:indent val="-342900"/>
              <a:marL val="571500"/>
            </a:pPr>
            <a:r>
              <a:rPr sz="1800" b="0">
                <a:solidFill>
                  <a:srgbClr val="FFFFFF"/>
                </a:solidFill>
              </a:rPr>
              <a:t>Interested in seed funding to expand model training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840480"/>
            <a:ext cx="10515600" cy="25400"/>
          </a:xfrm>
          <a:prstGeom prst="rect">
            <a:avLst/>
          </a:prstGeom>
          <a:solidFill>
            <a:srgbClr val="B0C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40233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00B4D8"/>
                </a:solidFill>
              </a:rPr>
              <a:t>signly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7548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</a:rPr>
              <a:t>Communication without barriers — for everyone.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C4D8"/>
                </a:solidFill>
              </a:rPr>
              <a:t>github.com/naik26m3/signly-conhacks-2026  |  ConHacks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